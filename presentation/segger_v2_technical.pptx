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Segger v0.2.0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600" b="0">
                <a:solidFill>
                  <a:srgbClr val="009688"/>
                </a:solidFill>
                <a:latin typeface="Calibri"/>
              </a:defRPr>
            </a:pPr>
            <a:r>
              <a:t>Multi-Task Graph Neural Network Cell Segmentation</a:t>
            </a:r>
            <a:br/>
            <a:r>
              <a:t>for Spatial Transcriptomics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4C8DC"/>
                </a:solidFill>
                <a:latin typeface="Calibri"/>
              </a:defRPr>
            </a:pPr>
            <a:r>
              <a:t>Technical Presentation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144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1. Problem Formulation — Graph-based cell segmentation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2. v0.1.0 Baseline — BCE loss and limitations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3. v0.2.0 Architecture — Positional embeddings, Polars, cuSpatial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4. Multi-Task Loss — Triplet, Metric, Alignment losses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5. ME Gene Discovery — scRNA-seq biological priors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6. Fragment Mode — GPU-accelerated connected components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7. Adaptive Thresholding — Per-gene Li + Yen methods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8. Delaunay Boundaries — De novo boundary extraction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9. Checkpoint Workflows — Auto vocabulary management</a:t>
            </a:r>
          </a:p>
          <a:p>
            <a:pPr>
              <a:lnSpc>
                <a:spcPts val="2850"/>
              </a:lnSpc>
              <a:spcAft>
                <a:spcPts val="400"/>
              </a:spcAft>
              <a:defRPr sz="1900" b="0">
                <a:solidFill>
                  <a:srgbClr val="1E1E1E"/>
                </a:solidFill>
                <a:latin typeface="Calibri"/>
              </a:defRPr>
            </a:pPr>
            <a:r>
              <a:t>10. Performance &amp; Scalability — Vectorization speedups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Cell segmentation as link prediction on heterogeneous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Cell Segmentation as Link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  <a:spcAft>
                <a:spcPts val="40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Goal: Assign each RNA transcript tᵢ to its source cell cⱼ using spatial coordinates and gene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68580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6583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03C71"/>
                </a:solidFill>
                <a:latin typeface="Cambria Math"/>
              </a:defRPr>
            </a:pPr>
            <a:r>
              <a:t>ĉ(tᵢ) = argmax_j  sᵢⱼ    s.t.  sᵢⱼ ≥ 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787878"/>
                </a:solidFill>
                <a:latin typeface="Calibri"/>
              </a:defRPr>
            </a:pPr>
            <a:r>
              <a:t>where sᵢⱼ = ⟨f(tᵢ), f(cⱼ)⟩  (cosine similarity of GNN embeddings)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Core insight: model segmentation as link prediction on a heterogeneous graph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Graph: G = (V, E) where V = T ∪ C (transcripts ∪ cells)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Node types: tx (gene tokens) and bd (boundary morphology)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Similarity computed via L2-normalized GNN embeddings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9319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Boundary Features: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Area: A(Bᵢ)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Convexity: A(CH) / A(Bᵢ)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Elongation: A(MBR) / A(Env)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Circularity: A(Bᵢ) / r²_min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Edge Construction: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E_TT: KD-tree, d(pᵢ,pⱼ) ≤ r, |N(i)| ≤ k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E_TC: polygon containment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E_BB: boundary spatial proximity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v0.1.0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Binary cross-entropy link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v0.1.0: BCE Loss for Link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03C71"/>
                </a:solidFill>
                <a:latin typeface="Cambria Math"/>
              </a:defRPr>
            </a:pPr>
            <a:r>
              <a:t>L_BCE = -Σ_(i,j) [ yᵢⱼ · log σ(sᵢⱼ) + (1 - yᵢⱼ) · log(1 - σ(sᵢⱼ))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sᵢⱼ = ⟨f(tᵢ), f(cⱼ)⟩  (dot product of L2-normalized embeddings)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yᵢⱼ = 1 if tᵢ belongs to cⱼ, else 0 (hard negatives)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Hard negative sampling from nearby cells (1:5 ratio)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SkipGAT architecture: GATv2Conv + HeteroConv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206240"/>
            <a:ext cx="109728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Limitations of v0.1.0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Single loss — no embedding quality signal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No biological priors (ME genes)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Global similarity threshold 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No fragment mode for unassigned transcripts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Pandas/Dask: 2–3× memory overhead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t>• buffer() — no polygon shrinking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v0.2.0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Positional embeddings, Polars, cuSpatial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Sinusoidal Positional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Encode 2D spatial coordinates as frequency-domain features: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0698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003C71"/>
                </a:solidFill>
                <a:latin typeface="Cambria Math"/>
              </a:defRPr>
            </a:pPr>
            <a:r>
              <a:t>PE(p, 2k) = sin(p / 10000^(2k/d))     PE(p, 2k+1) = cos(p / 10000^(2k/d))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0352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v0.1.0: Per-sample loop O(B · N · 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5303520" cy="11887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for b in range(num_batches):</a:t>
            </a:r>
            <a:br/>
            <a:r>
              <a:t>    mask = (batch == b)</a:t>
            </a:r>
            <a:br/>
            <a:r>
              <a:t>    pos[mask] = normalize(pos[mask])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53035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v0.2.0: scatter ops O(N · d)  —  10–100× speedup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71800"/>
            <a:ext cx="5303520" cy="1188720"/>
          </a:xfrm>
          <a:prstGeom prst="rect">
            <a:avLst/>
          </a:prstGeom>
          <a:solidFill>
            <a:srgbClr val="E6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mins, _ = scatter_min(pos, batch)</a:t>
            </a:r>
            <a:br/>
            <a:r>
              <a:t>maxs, _ = scatter_max(pos, batch)</a:t>
            </a:r>
            <a:br/>
            <a:r>
              <a:t>pos_norm = (pos - mins[batch]) /</a:t>
            </a:r>
            <a:br/>
            <a:r>
              <a:t>           (maxs[batch] - mins[batch])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ISTEncoder Pipeline: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164592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Gene</a:t>
            </a:r>
            <a:br/>
            <a: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64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5120640"/>
            <a:ext cx="164592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Positional</a:t>
            </a:r>
            <a:br/>
            <a:r>
              <a:t>2D Embed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64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120640"/>
            <a:ext cx="164592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Linear</a:t>
            </a:r>
            <a:br/>
            <a:r>
              <a:t>→ d_h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64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120640"/>
            <a:ext cx="1645920" cy="731520"/>
          </a:xfrm>
          <a:prstGeom prst="rect">
            <a:avLst/>
          </a:prstGeom>
          <a:solidFill>
            <a:srgbClr val="FFF0E6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SkipGAT</a:t>
            </a:r>
            <a:br/>
            <a:r>
              <a:t>× (n+2)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64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5120640"/>
            <a:ext cx="1645920" cy="731520"/>
          </a:xfrm>
          <a:prstGeom prst="rect">
            <a:avLst/>
          </a:prstGeom>
          <a:solidFill>
            <a:srgbClr val="FFF8DC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L2</a:t>
            </a:r>
            <a:br/>
            <a:r>
              <a:t>Normalize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64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5120640"/>
            <a:ext cx="1645920" cy="731520"/>
          </a:xfrm>
          <a:prstGeom prst="rect">
            <a:avLst/>
          </a:prstGeom>
          <a:solidFill>
            <a:srgbClr val="E6F8F5"/>
          </a:solidFill>
          <a:ln w="12700">
            <a:solidFill>
              <a:srgbClr val="00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51480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6478"/>
                </a:solidFill>
                <a:latin typeface="Calibri"/>
              </a:defRPr>
            </a:pPr>
            <a:r>
              <a:t>h ∈ R^d_out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Processing: Polars &amp; cuSpatial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Polars LazyFrames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Lazy evaluation — query optimization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Streaming mode for &gt;10M rows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2–3× less memory than Pandas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Apache Arrow columnar backend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Rust-based parallelism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33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cuSpatial GPU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Point-in-polygon (GPU-native)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Quadtree spatial indexing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Polygon area/centroid ops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O(N/P) with P GPU 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572000"/>
            <a:ext cx="1133856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9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GPU / CPU Fallback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cuSpatial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74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478"/>
                </a:solidFill>
                <a:latin typeface="Calibri"/>
              </a:defRPr>
            </a:pPr>
            <a:r>
              <a:t>GeoPandas/Shapely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CuPy sparse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40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478"/>
                </a:solidFill>
                <a:latin typeface="Calibri"/>
              </a:defRPr>
            </a:pPr>
            <a:r>
              <a:t>SciPy sparse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t>cuML Louvain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806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6478"/>
                </a:solidFill>
                <a:latin typeface="Calibri"/>
              </a:defRPr>
            </a:pPr>
            <a:r>
              <a:t>scanpy Leiden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Multi-Task Loss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Triplet + Metric + Alignment with cosine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v0.2.0 Multi-Task Loss: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3C71"/>
                </a:solidFill>
                <a:latin typeface="Cambria Math"/>
              </a:defRPr>
            </a:pPr>
            <a:r>
              <a:t>L_main = w_tx(t) · L_tx  +  w_bd(t) · L_bd  +  w_sg(t) · L_sg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Weight scheduling (smooth cosine annealing):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10698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003C71"/>
                </a:solidFill>
                <a:latin typeface="Cambria Math"/>
              </a:defRPr>
            </a:pPr>
            <a:r>
              <a:t>α(t) = ½(1 + cos(πt/T))      wᵢ(t) = wᵢ_end + (wᵢ_start − wᵢ_end) · α(t)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09728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mbria Math"/>
              </a:defRPr>
            </a:pPr>
            <a:r>
              <a:t>L_tx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75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Transcript Triplet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502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87878"/>
                </a:solidFill>
                <a:latin typeface="Calibri"/>
              </a:defRPr>
            </a:pPr>
            <a:r>
              <a:t>Cluster-aware embedding learning for transcripts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1097280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mbria Math"/>
              </a:defRPr>
            </a:pPr>
            <a:r>
              <a:t>L_bd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07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Boundary Metric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81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87878"/>
                </a:solidFill>
                <a:latin typeface="Calibri"/>
              </a:defRPr>
            </a:pPr>
            <a:r>
              <a:t>Phenograph-supervised cell embedding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09728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mbria Math"/>
              </a:defRPr>
            </a:pPr>
            <a:r>
              <a:t>L_sg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Segmentation Triplet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13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87878"/>
                </a:solidFill>
                <a:latin typeface="Calibri"/>
              </a:defRPr>
            </a:pPr>
            <a:r>
              <a:t>Link prediction between tx and bd nodes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52160"/>
            <a:ext cx="1097280" cy="5486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mbria Math"/>
              </a:defRPr>
            </a:pPr>
            <a:r>
              <a:t>L_align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Alignment Loss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1447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87878"/>
                </a:solidFill>
                <a:latin typeface="Calibri"/>
              </a:defRPr>
            </a:pPr>
            <a:r>
              <a:t>ME gene constraints from scRNA-seq reference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Triplet Loss with FastTripletSelector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03C71"/>
                </a:solidFill>
                <a:latin typeface="Cambria Math"/>
              </a:defRPr>
            </a:pPr>
            <a:r>
              <a:t>L_triplet = (1/|A|) Σ_(a,p,n) max(0,  ‖h_a − h_p‖² − ‖h_a − h_n‖² + 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787878"/>
                </a:solidFill>
                <a:latin typeface="Calibri"/>
              </a:defRPr>
            </a:pPr>
            <a:r>
              <a:t>Margins: m_tx = 0.3, m_sg = 0.4.  Triplets sampled using phenograph cluster similarity.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FastTripletSelector (O(1) per sample)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1. Build cluster similarity matrix S ∈ R^(K×K) via phenograph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2. Compute CDF:  pdf_k = S[a,k] / Σ_j S[a,j];  cdf = cumsum(pdf)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3. Sample u ~ Unif(0,1)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4. k* = searchsorted(cdf, u)  —  O(log K) per sample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5. Pick random node from cluster k*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560320"/>
            <a:ext cx="530352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6478"/>
                </a:solidFill>
                <a:latin typeface="Calibri"/>
              </a:defRPr>
            </a:pPr>
            <a:r>
              <a:t>Cluster Similarity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Phenograph/Louvain on boundary KNN graph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Sᵢⱼ = Jaccard similarity of clusters i, j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Positive sampling: P(cluster k) ∝ S[a_cluster, k]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Negative sampling: P(cluster k) ∝ −S[a_cluster, k]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Resolution ρ = 2.0–3.0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Inverse CDF: vectorized over all anchors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Metric Loss: Cell Boundary Embedding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03C71"/>
                </a:solidFill>
                <a:latin typeface="Cambria Math"/>
              </a:defRPr>
            </a:pPr>
            <a:r>
              <a:t>L_metric = E[ MSE(cos(h_a, h_p), 1−d(a,p)) + MSE(cos(h_a, h_n), 1−d(a,n))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787878"/>
                </a:solidFill>
                <a:latin typeface="Calibri"/>
              </a:defRPr>
            </a:pPr>
            <a:r>
              <a:t>where d(a,p) = 1 − S[c_a, c_p] is the cluster dissimilarity from phenograph.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• Intuition: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Similar cells → high cosine similarity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Dissimilar cells → low cosine similarity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Supervised by phenograph clustering as soft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t>• Phenograph Pipeline: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Compute cell-gene count vectors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PCA reduction → R^d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KNN graph (k = 30)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Louvain community detection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S: Jaccard between communities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Alignment Loss: ME Gene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03C71"/>
                </a:solidFill>
                <a:latin typeface="Cambria Math"/>
              </a:defRPr>
            </a:pPr>
            <a:r>
              <a:t>L_align = Σ_(i,j)∈P (1 − sᵢⱼ)²  +  Σ_(i,j)∈N max(sᵢⱼ − m, 0)²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sᵢⱼ = ⟨hᵢ, hⱼ⟩ (cosine sim, L2-normalized)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P: same-gene tx neighbors (attract)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N: ME gene pairs (repel)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Fixed margin m = 0.2</a:t>
            </a:r>
          </a:p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• |P| ≤ 3|N| (subsample positives)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303520" cy="2011680"/>
          </a:xfrm>
          <a:prstGeom prst="rect">
            <a:avLst/>
          </a:prstGeom>
          <a:solidFill>
            <a:srgbClr val="E6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39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Biological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Mutually exclusive genes (markers of different cell types) should never co-localize in the same cell. Penalizing high similarity between ME neighbors discourages false cell merges → lower MECR.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Vectorized ME Gene Matching (10–50× speedup):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10912"/>
            <a:ext cx="10698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3C71"/>
                </a:solidFill>
                <a:latin typeface="Cambria Math"/>
              </a:defRPr>
            </a:pPr>
            <a:r>
              <a:t>key(g_a, g_b) = min(g_a, g_b) · G_max + max(g_a, g_b)    →  torch.isin(edge_keys, me_keys)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Cantor-like pairing reduces O(|E| · |ME|) loop to O(|E| + |ME|) hash lookup.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Loss Combination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292608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Interpolate Mode (Default)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1206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4846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3C71"/>
                </a:solidFill>
                <a:latin typeface="Cambria Math"/>
              </a:defRPr>
            </a:pPr>
            <a:r>
              <a:t>L = (1 − w_align) · L_main + w_align · L_align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Total scale ≈ constant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Smooth trade-off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Recommended for most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926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33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Additive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1206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64792"/>
            <a:ext cx="4846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3C71"/>
                </a:solidFill>
                <a:latin typeface="Cambria Math"/>
              </a:defRPr>
            </a:pPr>
            <a:r>
              <a:t>L = L_main + w_align · L_align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Total scale increases over training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May require LR adjustment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For aggressive ME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Full v0.2.0 loss expansion: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11338560" cy="7315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9472"/>
            <a:ext cx="11064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003C71"/>
                </a:solidFill>
                <a:latin typeface="Cambria Math"/>
              </a:defRPr>
            </a:pPr>
            <a:r>
              <a:t>L_v2 = w_tx · L_triplet^tx + w_bd · L_metric^bd + w_sg · L_triplet^sg + w_align · L_align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787878"/>
                </a:solidFill>
                <a:latin typeface="Courier New"/>
              </a:defRPr>
            </a:pPr>
            <a:r>
              <a:t>  transcript        boundary        segmentation        ME constraint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ME Gene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Biological priors from scRNA-seq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 Gene Discovery from scRNA-seq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Step 1: Marker Gene Identification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Rank genes by mean expression per cell type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Select top 10% (pos_percentile)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Filter: ≥30% of cells express gene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Step 2: Mutual Exclusivity Filter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expr_in(g, c) &gt; 0.25 (expressed in own type)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expr_out(g, c) &lt; 0.03 (absent elsewhere)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Step 3: Cross-Type Pairing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ME = {(g1, g2) : g1 ∈ M_c1, g2 ∈ M_c2, c1 ≠ c2}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097280"/>
            <a:ext cx="484632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097280"/>
            <a:ext cx="4846320" cy="36576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124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MECR Validation 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645920"/>
            <a:ext cx="448056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719072"/>
            <a:ext cx="4206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003C71"/>
                </a:solidFill>
                <a:latin typeface="Cambria Math"/>
              </a:defRPr>
            </a:pPr>
            <a:r>
              <a:t>MECR(g1,g2) = P(g1 ∧ g2) / P(g1 ∨ g2)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8600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• Lower is better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• Good: &lt; 0.15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006478"/>
                </a:solidFill>
                <a:latin typeface="Calibri"/>
              </a:defRPr>
            </a:pPr>
            <a:r>
              <a:t>• High → cell merging artifacts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57600"/>
            <a:ext cx="4846320" cy="27432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749039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scRNA-seq reference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↓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Marker genes per cell type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↓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ME exclusivity filter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↓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(gᵢ, gⱼ) ME pairs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↓</a:t>
            </a:r>
          </a:p>
          <a:p>
            <a:pPr>
              <a:lnSpc>
                <a:spcPts val="1609"/>
              </a:lnSpc>
              <a:spcAft>
                <a:spcPts val="400"/>
              </a:spcAft>
              <a:defRPr sz="1400" b="0">
                <a:solidFill>
                  <a:srgbClr val="003C71"/>
                </a:solidFill>
                <a:latin typeface="Calibri"/>
              </a:defRPr>
            </a:pPr>
            <a:r>
              <a:t>L_align training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Fragment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GPU-accelerated connected components for unassigned transcripts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Fragment Mode: Recovering Unassigned Transcripts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74C3C"/>
                </a:solidFill>
                <a:latin typeface="Calibri"/>
              </a:defRPr>
            </a:pPr>
            <a:r>
              <a:t>Problem: Transcripts with max_j sᵢⱼ &lt; θ remain unassigned after initial segmentation.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1. Identify unassigned transcripts:  T_u = {tᵢ : seg_cell_id(tᵢ) = ∅}</a:t>
            </a:r>
          </a:p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2. Filter tx–tx edges:  E_u = {(tᵢ, tⱼ) ∈ E_TT : tᵢ, tⱼ ∈ T_u}</a:t>
            </a:r>
          </a:p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3. Threshold by similarity:  E'_u = {(tᵢ, tⱼ) ∈ E_u : sᵢⱼ ≥ θ_f}</a:t>
            </a:r>
          </a:p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4. Connected components:  {C₁, C₂, ...} = CC(T_u, E'_u)</a:t>
            </a:r>
          </a:p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5. Filter by size:  keep C_k if |C_k| ≥ n_min (default: 5)</a:t>
            </a:r>
          </a:p>
          <a:p>
            <a:pPr>
              <a:lnSpc>
                <a:spcPts val="2320"/>
              </a:lnSpc>
              <a:spcAft>
                <a:spcPts val="400"/>
              </a:spcAft>
              <a:defRPr sz="1600" b="0">
                <a:solidFill>
                  <a:srgbClr val="1E1E1E"/>
                </a:solidFill>
                <a:latin typeface="Calibri"/>
              </a:defRPr>
            </a:pPr>
            <a:r>
              <a:t>6. Assign:  seg_cell_id(tᵢ) = "fragment-k" for tᵢ ∈ C_k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754880"/>
            <a:ext cx="5486400" cy="1828800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754880"/>
            <a:ext cx="54864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GPU: RAPIDS/CuPy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CuPy CSR matrix → cupyx CC</a:t>
            </a:r>
            <a:br/>
            <a:r>
              <a:t>Parallel component labeling</a:t>
            </a:r>
            <a:br/>
            <a:r>
              <a:t>cp.bincount for size filtering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E6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754880"/>
            <a:ext cx="548640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73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CPU: SciPy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ourier New"/>
              </a:defRPr>
            </a:pPr>
            <a:r>
              <a:t>scipy.sparse.csr_matrix</a:t>
            </a:r>
            <a:br/>
            <a:r>
              <a:t>scipy connected_components</a:t>
            </a:r>
            <a:br/>
            <a:r>
              <a:t>Complexity: O(|T_u| + |E'_u|)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Per-Gene Adaptive Similarity Thresholding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2103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Fixed Threshold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4846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003C71"/>
                </a:solidFill>
                <a:latin typeface="Cambria Math"/>
              </a:defRPr>
            </a:pPr>
            <a:r>
              <a:t>ĉ(tᵢ) = argmax_j sᵢⱼ  if  max_j sᵢⱼ ≥ 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Single θ for all genes.</a:t>
            </a:r>
            <a:br/>
            <a:r>
              <a:t>Simple but may miss gene-specific variation.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10312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24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1E1E1E"/>
                </a:solidFill>
                <a:latin typeface="Calibri"/>
              </a:defRPr>
            </a:pPr>
            <a:r>
              <a:t>Per-Gene Auto-Threshold (v0.2.0)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120640" cy="50292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19072"/>
            <a:ext cx="48463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003C71"/>
                </a:solidFill>
                <a:latin typeface="Cambria Math"/>
              </a:defRPr>
            </a:pPr>
            <a:r>
              <a:t>θ_g = min(θ_g^Li, θ_g^Yen)   fallback: median(s_g)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Li: minimum cross-entropy method</a:t>
            </a:r>
            <a:br/>
            <a:r>
              <a:t>Yen: maximum correlation method</a:t>
            </a:r>
            <a:br/>
            <a:r>
              <a:t>Robust to multi-modal distributions.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6478"/>
                </a:solidFill>
                <a:latin typeface="Calibri"/>
              </a:defRPr>
            </a:pPr>
            <a:r>
              <a:t>Memory optimization:  |S_g| &gt; 10⁷  →  subsample to 10⁷ before thresholding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Delaunay Boundary</a:t>
            </a:r>
            <a:br/>
            <a:r>
              <a:t>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De novo cell boundary extraction from transcript clouds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Two-Phase Delaunay Boundary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256032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1: Remove Long Boundary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Compute d_max = max nearest-neighbor distance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Identify boundary edges (&lt; 2 incident simplices)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Iteratively remove edges with l &gt; 2 · d_max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Propagate: deleted simplices → new boundary edges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2560320"/>
          </a:xfrm>
          <a:prstGeom prst="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24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Phase 2: Remove Extreme-Angle Edges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For each boundary edge with opposite angle α: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Remove if l &gt; 1.5·d_max AND α &gt; 90°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OR if α &gt; 180° − 180°/16 ≈ 168.75°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• Vectorized angle computation for all triangles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t>Cycle Detection → Polygon Extraction: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DFS on remaining boundary graph to find connected components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Extract cycles → Shapely Polygon / MultiPolygon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Complexity: O(n log n) dominated by Delaunay triangulation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760720"/>
            <a:ext cx="1133856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833872"/>
            <a:ext cx="11064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003C71"/>
                </a:solidFill>
                <a:latin typeface="Cambria Math"/>
              </a:defRPr>
            </a:pPr>
            <a:r>
              <a:t>α_k = arccos( (u · v) / (‖u‖ · ‖v‖) )    —  vectorized over all triangles simultaneously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Simplified Checkpoint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01168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36576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34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Vocabulary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2011680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train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69164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Fresh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86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6479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6478"/>
                </a:solidFill>
                <a:latin typeface="Calibri"/>
              </a:defRPr>
            </a:pPr>
            <a:r>
              <a:t>Embeddings from data module vocab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2011680" cy="7772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finetune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60604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743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Load weights, reset optimizer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5486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6478"/>
                </a:solidFill>
                <a:latin typeface="Calibri"/>
              </a:defRPr>
            </a:pPr>
            <a:r>
              <a:t>Auto-remap: shared genes keep weights,</a:t>
            </a:r>
            <a:br/>
            <a:r>
              <a:t>new genes Xavier init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0440"/>
            <a:ext cx="201168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predict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520440"/>
            <a:ext cx="36576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E1E1E"/>
                </a:solidFill>
                <a:latin typeface="Calibri"/>
              </a:defRPr>
            </a:pPr>
            <a:r>
              <a:t>Skip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520440"/>
            <a:ext cx="54864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9359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6478"/>
                </a:solidFill>
                <a:latin typeface="Calibri"/>
              </a:defRPr>
            </a:pPr>
            <a:r>
              <a:t>Auto-filter: data restricted to</a:t>
            </a:r>
            <a:br/>
            <a:r>
              <a:t>checkpoint gene vocabulary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1E1E1E"/>
                </a:solidFill>
                <a:latin typeface="Calibri"/>
              </a:defRPr>
            </a:pPr>
            <a:r>
              <a:t>Vocabulary Remapping (Finetune Mode):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85232"/>
            <a:ext cx="10698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003C71"/>
                </a:solidFill>
                <a:latin typeface="Cambria Math"/>
              </a:defRPr>
            </a:pPr>
            <a:r>
              <a:t>V_shared = V_ckpt ∩ V_data    V_new = V_data \ V_ckpt    (shared: copy weights, new: Xavier init)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Gene embeddings always exported as gene_embeddings.parquet for downstream reuse.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Performance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009688"/>
                </a:solidFill>
                <a:latin typeface="Calibri"/>
              </a:defRPr>
            </a:pPr>
            <a:r>
              <a:t>Vectorization speedups and GPU/CPU dual-path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Vectorization Speedups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2860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32004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v0.1.0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32004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188720"/>
            <a:ext cx="164592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2344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Speedup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4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013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Batch normalization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691640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01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Per-sample loop O(BNd)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013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scatter_min/max O(Nd)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91640"/>
            <a:ext cx="16459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013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10–100×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377440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4871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ME gene matching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37744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487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Per-edge loop O(|E|·|ME|)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377440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487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Cantor hash + isin O(|E|+|ME|)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37744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4871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10–50×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63240"/>
            <a:ext cx="22860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729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Triplet sampling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063240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1729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Random rejection O(NK)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63240"/>
            <a:ext cx="320040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1729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FastTripletSelector O(N)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063240"/>
            <a:ext cx="16459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172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~5×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49039"/>
            <a:ext cx="2286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58767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Data loading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749039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385876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Pandas + Dask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749039"/>
            <a:ext cx="3200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85876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1E1E1E"/>
                </a:solidFill>
                <a:latin typeface="Calibri"/>
              </a:defRPr>
            </a:pPr>
            <a:r>
              <a:t>Polars LazyFrames (streaming)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3749039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85876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E74C3C"/>
                </a:solidFill>
                <a:latin typeface="Calibri"/>
              </a:defRPr>
            </a:pPr>
            <a:r>
              <a:t>2–3×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1E1E1E"/>
                </a:solidFill>
                <a:latin typeface="Calibri"/>
              </a:defRPr>
            </a:pPr>
            <a:r>
              <a:t>Additional scalability features: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Mixed precision: 16-mixed, bf16-mixed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Auto 3D detection from z-coordinates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Chunked GPU similarity (256MB target)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212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LR schedulers: cosine, OneCycle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Early stopping with configurable patience</a:t>
            </a:r>
          </a:p>
          <a:p>
            <a:pPr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1E1E1E"/>
                </a:solidFill>
                <a:latin typeface="Calibri"/>
              </a:defRPr>
            </a:pPr>
            <a:r>
              <a:t>• Tile-based: 50K–100K tx/tile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v0.1.0 vs. v0.2.0: Complete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56032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2412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005840"/>
            <a:ext cx="320040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024128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v0.1.0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530352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0241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v0.2.0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39903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Data processing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371600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399032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Pandas + Dask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399032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Polars (2–3× faster)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28216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75564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GPU geometry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728216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1755648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RAPIDS cuML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728216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175564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cuSpatial (native polygon)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84832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11226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Loss function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084832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211226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BCE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084832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112264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BCE + Triplet + Metric + Alignment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41448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46888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Triplet sampling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2441448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246888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441448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2468880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FastTripletSelector (inverse CDF)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798064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282549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Biological priors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2798064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2825496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798064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2825496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ME gene alignment loss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154680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18211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Gene embeddings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3154680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3182112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One-hot / external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154680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3182112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Learned + PCA + exported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11296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353872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Positional encoding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511296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3538728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Per-sample norm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3511296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353872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scatter_min/max (10–100×)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867912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89534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Polygon scaling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3867912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9232" y="389534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buffer() 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3867912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9632" y="3895344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scale() (expand + shrink)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224528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425196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Similarity threshold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4224528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9232" y="425196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Global 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4224528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99632" y="4251960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Per-gene Li + Yen auto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581144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4608576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Unassigned transcripts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0" y="4581144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99232" y="4608576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Discarded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4581144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9632" y="4608576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Fragment mode (GPU CC)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937760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496519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Boundary construction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26080" y="4937760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9232" y="4965192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External only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80" y="4937760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99632" y="4965192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Delaunay (de novo)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5294376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5321808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Checkpoint system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6080" y="5294376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99232" y="5321808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Manual vocab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26480" y="5294376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99632" y="5321808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Auto (train/finetune/predict)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650992"/>
            <a:ext cx="25603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" y="567842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Export formats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0" y="5650992"/>
            <a:ext cx="32004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99232" y="567842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Parquet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80" y="5650992"/>
            <a:ext cx="530352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99632" y="5678424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Zarr, SpatialData, AnnData, Explorer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6007608"/>
            <a:ext cx="2560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8912" y="603504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Training precision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26080" y="6007608"/>
            <a:ext cx="32004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99232" y="60350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1E1E1E"/>
                </a:solidFill>
                <a:latin typeface="Calibri"/>
              </a:defRPr>
            </a:pPr>
            <a:r>
              <a:t>FP32 only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80" y="6007608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99632" y="6035040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6478"/>
                </a:solidFill>
                <a:latin typeface="Calibri"/>
              </a:defRPr>
            </a:pPr>
            <a:r>
              <a:t>FP16/BF16 mixed precision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Equations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87878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82880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(1)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00584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07899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ĉ(tᵢ) = argmax_j ⟨f(tᵢ), f(cⱼ)⟩   s.t.  sᵢⱼ ≥ θ_g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82880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928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(2) BCE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78308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85623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L_BCE = −Σ [yᵢⱼ logσ(sᵢⱼ) + (1−yᵢⱼ)log(1−σ(sᵢⱼ))]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1828800" cy="548640"/>
          </a:xfrm>
          <a:prstGeom prst="rect">
            <a:avLst/>
          </a:prstGeom>
          <a:solidFill>
            <a:srgbClr val="00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(3) Triplet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56032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63347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L_tri = (1/|A|) Σ max(0, ‖h_a−h_p‖² − ‖h_a−h_n‖² + 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1828800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472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(4) Metric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33756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41071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L_met = E[MSE(cos(h_a,h_p), 1−d_ap) + MSE(cos(h_a,h_n), 1−d_an)]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18288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(5) Alignment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11480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18795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L_align = Σ_P (1−sᵢⱼ)² + Σ_N max(sᵢⱼ−m, 0)²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1828800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0017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(6) Combined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892040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4965192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L = (1−w_a)[w_t·L_tri^t + w_b·L_met^b + w_s·L_tri^s] + w_a·L_align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69279"/>
            <a:ext cx="1828800" cy="5486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790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(7) Scheduling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5669279"/>
            <a:ext cx="9326880" cy="548640"/>
          </a:xfrm>
          <a:prstGeom prst="rect">
            <a:avLst/>
          </a:prstGeom>
          <a:solidFill>
            <a:srgbClr val="EBF5FF"/>
          </a:solidFill>
          <a:ln w="12700">
            <a:solidFill>
              <a:srgbClr val="B4D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5742431"/>
            <a:ext cx="9052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3C71"/>
                </a:solidFill>
                <a:latin typeface="Cambria Math"/>
              </a:defRPr>
            </a:pPr>
            <a:r>
              <a:t>wᵢ(t) = wᵢ_end + (wᵢ_start − wᵢ_end) · ½(1 + cos(πt/T))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C7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00968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B4C8DC"/>
                </a:solidFill>
                <a:latin typeface="Calibri"/>
              </a:defRPr>
            </a:pPr>
            <a:r>
              <a:t>Code:  segger v0.2.0</a:t>
            </a:r>
            <a:br/>
            <a:r>
              <a:t>Install:  pip install segger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B4C8DC"/>
                </a:solidFill>
                <a:latin typeface="Courier New"/>
              </a:defRPr>
            </a:pPr>
            <a:r>
              <a:t>CLI:</a:t>
            </a:r>
            <a:br/>
            <a:r>
              <a:t>segger segment -i data/ -o out/</a:t>
            </a:r>
            <a:br/>
            <a:r>
              <a:t>segger export -s seg.pq -o exp/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87878"/>
                </a:solidFill>
                <a:latin typeface="Calibri"/>
              </a:defRPr>
            </a:pPr>
            <a:r>
              <a:t>Segger: scalable graph neural network cell segmentation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